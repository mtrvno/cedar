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1B2733"/>
                </a:solidFill>
              </a:rPr>
              <a:t>Under-5 mortality (per 1,000 live births)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Kenya</c:v>
                </c:pt>
              </c:strCache>
            </c:strRef>
          </c:tx>
          <c:spPr>
            <a:ln w="31750">
              <a:solidFill>
                <a:srgbClr val="009EDB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53.1</c:v>
                </c:pt>
                <c:pt idx="1">
                  <c:v>50.7</c:v>
                </c:pt>
                <c:pt idx="2">
                  <c:v>48.3</c:v>
                </c:pt>
                <c:pt idx="3">
                  <c:v>45.5</c:v>
                </c:pt>
                <c:pt idx="4">
                  <c:v>43.7</c:v>
                </c:pt>
                <c:pt idx="5">
                  <c:v>42.1</c:v>
                </c:pt>
                <c:pt idx="6">
                  <c:v>40.5</c:v>
                </c:pt>
                <c:pt idx="7">
                  <c:v>39.6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Sub-Saharan Africa</c:v>
                </c:pt>
              </c:strCache>
            </c:strRef>
          </c:tx>
          <c:spPr>
            <a:ln w="22225">
              <a:solidFill>
                <a:srgbClr val="C3CEDA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97.2</c:v>
                </c:pt>
                <c:pt idx="1">
                  <c:v>90.7</c:v>
                </c:pt>
                <c:pt idx="2">
                  <c:v>86.8</c:v>
                </c:pt>
                <c:pt idx="3">
                  <c:v>83.4</c:v>
                </c:pt>
                <c:pt idx="4">
                  <c:v>79.0</c:v>
                </c:pt>
                <c:pt idx="5">
                  <c:v>75.9</c:v>
                </c:pt>
                <c:pt idx="6">
                  <c:v>78.3</c:v>
                </c:pt>
                <c:pt idx="7">
                  <c:v>73.2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SDG target (25)</c:v>
                </c:pt>
              </c:strCache>
            </c:strRef>
          </c:tx>
          <c:spPr>
            <a:ln w="22225">
              <a:solidFill>
                <a:srgbClr val="2E7D5B"/>
              </a:solidFill>
            </a:ln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2010</c:v>
                </c:pt>
                <c:pt idx="1">
                  <c:v>2012</c:v>
                </c:pt>
                <c:pt idx="2">
                  <c:v>2014</c:v>
                </c:pt>
                <c:pt idx="3">
                  <c:v>2016</c:v>
                </c:pt>
                <c:pt idx="4">
                  <c:v>2018</c:v>
                </c:pt>
                <c:pt idx="5">
                  <c:v>2020</c:v>
                </c:pt>
                <c:pt idx="6">
                  <c:v>2022</c:v>
                </c:pt>
                <c:pt idx="7">
                  <c:v>2023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25</c:v>
                </c:pt>
                <c:pt idx="7">
                  <c:v>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U5MR</c:v>
                </c:pt>
              </c:strCache>
            </c:strRef>
          </c:tx>
          <c:dPt>
            <c:idx val="0"/>
            <c:spPr>
              <a:solidFill>
                <a:srgbClr val="B3504B"/>
              </a:solidFill>
            </c:spPr>
          </c:dPt>
          <c:dPt>
            <c:idx val="1"/>
            <c:spPr>
              <a:solidFill>
                <a:srgbClr val="B3504B"/>
              </a:solidFill>
            </c:spPr>
          </c:dPt>
          <c:dPt>
            <c:idx val="2"/>
            <c:spPr>
              <a:solidFill>
                <a:srgbClr val="B3504B"/>
              </a:solidFill>
            </c:spPr>
          </c:dPt>
          <c:dPt>
            <c:idx val="3"/>
            <c:spPr>
              <a:solidFill>
                <a:srgbClr val="CE7E3F"/>
              </a:solidFill>
            </c:spPr>
          </c:dPt>
          <c:dPt>
            <c:idx val="4"/>
            <c:spPr>
              <a:solidFill>
                <a:srgbClr val="CE7E3F"/>
              </a:solidFill>
            </c:spPr>
          </c:dPt>
          <c:dPt>
            <c:idx val="5"/>
            <c:spPr>
              <a:solidFill>
                <a:srgbClr val="CE7E3F"/>
              </a:solidFill>
            </c:spPr>
          </c:dPt>
          <c:dPt>
            <c:idx val="6"/>
            <c:spPr>
              <a:solidFill>
                <a:srgbClr val="CE7E3F"/>
              </a:solidFill>
            </c:spPr>
          </c:dPt>
          <c:dPt>
            <c:idx val="7"/>
            <c:spPr>
              <a:solidFill>
                <a:srgbClr val="C2912F"/>
              </a:solidFill>
            </c:spPr>
          </c:dPt>
          <c:dPt>
            <c:idx val="8"/>
            <c:spPr>
              <a:solidFill>
                <a:srgbClr val="C2912F"/>
              </a:solidFill>
            </c:spPr>
          </c:dPt>
          <c:dPt>
            <c:idx val="9"/>
            <c:spPr>
              <a:solidFill>
                <a:srgbClr val="2E7D5B"/>
              </a:solidFill>
            </c:spPr>
          </c:dPt>
          <c:dPt>
            <c:idx val="10"/>
            <c:spPr>
              <a:solidFill>
                <a:srgbClr val="2E7D5B"/>
              </a:solidFill>
            </c:spPr>
          </c:dPt>
          <c:dPt>
            <c:idx val="11"/>
            <c:spPr>
              <a:solidFill>
                <a:srgbClr val="2E7D5B"/>
              </a:solidFill>
            </c:spPr>
          </c:dPt>
          <c:dPt>
            <c:idx val="12"/>
            <c:spPr>
              <a:solidFill>
                <a:srgbClr val="2E7D5B"/>
              </a:solidFill>
            </c:spPr>
          </c:dPt>
          <c:cat>
            <c:strRef>
              <c:f>Sheet1!$A$2:$A$14</c:f>
              <c:strCache>
                <c:ptCount val="13"/>
                <c:pt idx="0">
                  <c:v>Nigeria</c:v>
                </c:pt>
                <c:pt idx="1">
                  <c:v>Chad</c:v>
                </c:pt>
                <c:pt idx="2">
                  <c:v>DR Congo</c:v>
                </c:pt>
                <c:pt idx="3">
                  <c:v>Mali</c:v>
                </c:pt>
                <c:pt idx="4">
                  <c:v>Pakistan</c:v>
                </c:pt>
                <c:pt idx="5">
                  <c:v>Afghanistan</c:v>
                </c:pt>
                <c:pt idx="6">
                  <c:v>Ethiopia</c:v>
                </c:pt>
                <c:pt idx="7">
                  <c:v>Kenya</c:v>
                </c:pt>
                <c:pt idx="8">
                  <c:v>India</c:v>
                </c:pt>
                <c:pt idx="9">
                  <c:v>Egypt</c:v>
                </c:pt>
                <c:pt idx="10">
                  <c:v>Indonesia</c:v>
                </c:pt>
                <c:pt idx="11">
                  <c:v>Brazil</c:v>
                </c:pt>
                <c:pt idx="12">
                  <c:v>Colombia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116.8</c:v>
                </c:pt>
                <c:pt idx="1">
                  <c:v>100.6</c:v>
                </c:pt>
                <c:pt idx="2">
                  <c:v>91.3</c:v>
                </c:pt>
                <c:pt idx="3">
                  <c:v>76.2</c:v>
                </c:pt>
                <c:pt idx="4">
                  <c:v>57.8</c:v>
                </c:pt>
                <c:pt idx="5">
                  <c:v>54.9</c:v>
                </c:pt>
                <c:pt idx="6">
                  <c:v>51.5</c:v>
                </c:pt>
                <c:pt idx="7">
                  <c:v>39.6</c:v>
                </c:pt>
                <c:pt idx="8">
                  <c:v>28.0</c:v>
                </c:pt>
                <c:pt idx="9">
                  <c:v>22.9</c:v>
                </c:pt>
                <c:pt idx="10">
                  <c:v>18.4</c:v>
                </c:pt>
                <c:pt idx="11">
                  <c:v>14.4</c:v>
                </c:pt>
                <c:pt idx="12">
                  <c:v>11.9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B27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1B27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D6B7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1B2733"/>
                </a:solidFill>
              </a:rPr>
              <a:t>Nigeria — stunting by household wealth, 2018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Stunting %</c:v>
                </c:pt>
              </c:strCache>
            </c:strRef>
          </c:tx>
          <c:dPt>
            <c:idx val="0"/>
            <c:spPr>
              <a:solidFill>
                <a:srgbClr val="B3504B"/>
              </a:solidFill>
            </c:spPr>
          </c:dPt>
          <c:dPt>
            <c:idx val="1"/>
            <c:spPr>
              <a:solidFill>
                <a:srgbClr val="CE7E3F"/>
              </a:solidFill>
            </c:spPr>
          </c:dPt>
          <c:dPt>
            <c:idx val="2"/>
            <c:spPr>
              <a:solidFill>
                <a:srgbClr val="C2912F"/>
              </a:solidFill>
            </c:spPr>
          </c:dPt>
          <c:dPt>
            <c:idx val="3"/>
            <c:spPr>
              <a:solidFill>
                <a:srgbClr val="6FA98A"/>
              </a:solidFill>
            </c:spPr>
          </c:dPt>
          <c:dPt>
            <c:idx val="4"/>
            <c:spPr>
              <a:solidFill>
                <a:srgbClr val="2E7D5B"/>
              </a:solidFill>
            </c:spPr>
          </c:dPt>
          <c:cat>
            <c:strRef>
              <c:f>Sheet1!$A$2:$A$6</c:f>
              <c:strCache>
                <c:ptCount val="5"/>
                <c:pt idx="0">
                  <c:v>Poorest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Richest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55.4</c:v>
                </c:pt>
                <c:pt idx="1">
                  <c:v>49.4</c:v>
                </c:pt>
                <c:pt idx="2">
                  <c:v>37.8</c:v>
                </c:pt>
                <c:pt idx="3">
                  <c:v>26.9</c:v>
                </c:pt>
                <c:pt idx="4">
                  <c:v>16.8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1B27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B27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D6B7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FFFFFF"/>
                </a:solidFill>
              </a:rPr>
              <a:t>Stunting prevalence — survey years only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Stunting %</c:v>
                </c:pt>
              </c:strCache>
            </c:strRef>
          </c:tx>
          <c:spPr>
            <a:solidFill>
              <a:srgbClr val="009EDB"/>
            </a:solidFill>
          </c:spPr>
          <c:cat>
            <c:strRef>
              <c:f>Sheet1!$A$2:$A$4</c:f>
              <c:strCache>
                <c:ptCount val="3"/>
                <c:pt idx="0">
                  <c:v>2014</c:v>
                </c:pt>
                <c:pt idx="1">
                  <c:v>2016</c:v>
                </c:pt>
                <c:pt idx="2">
                  <c:v>2022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26.2</c:v>
                </c:pt>
                <c:pt idx="1">
                  <c:v>28.6</c:v>
                </c:pt>
                <c:pt idx="2">
                  <c:v>17.6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C3CED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C3CED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651967" cy="651967"/>
          </a:xfrm>
          <a:prstGeom prst="roundRect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623" y="898169"/>
            <a:ext cx="94640" cy="94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4920" y="1213637"/>
            <a:ext cx="94640" cy="9464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8326" y="1213637"/>
            <a:ext cx="94640" cy="94640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8229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CEDAR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133502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3CEDA"/>
                </a:solidFill>
                <a:latin typeface="Arial"/>
              </a:rPr>
              <a:t>Cited Evidence &amp; Data Analytic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Grounded evidence,</a:t>
            </a:r>
          </a:p>
          <a:p>
            <a:pPr algn="l">
              <a:spcAft>
                <a:spcPts val="200"/>
              </a:spcAft>
            </a:pPr>
            <a:r>
              <a:rPr sz="6000" b="1" i="0">
                <a:solidFill>
                  <a:srgbClr val="009EDB"/>
                </a:solidFill>
                <a:latin typeface="Arial"/>
              </a:rPr>
              <a:t>fully cited.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C3CEDA"/>
                </a:solidFill>
                <a:latin typeface="Arial"/>
              </a:rPr>
              <a:t>An agentic copilot that turns authoritative data into decision-ready briefs — every figure traceable to its source.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532120"/>
            <a:ext cx="45720" cy="566928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UN Open Source Week Hack-A-Thon 2026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C3CEDA"/>
                </a:solidFill>
                <a:latin typeface="Arial"/>
              </a:rPr>
              <a:t>Challenge 3 · UNICEF Innocenti · Agentic Copilots &amp; Analytic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883664" cy="292608"/>
          </a:xfrm>
          <a:prstGeom prst="round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1792"/>
            <a:ext cx="18836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B2733"/>
                </a:solidFill>
                <a:latin typeface="Arial"/>
              </a:rPr>
              <a:t>For decisions about children, an </a:t>
            </a:r>
            <a:r>
              <a:rPr sz="3200" b="1" i="0">
                <a:solidFill>
                  <a:srgbClr val="B3504B"/>
                </a:solidFill>
                <a:latin typeface="Arial"/>
              </a:rPr>
              <a:t>unsourced number</a:t>
            </a:r>
            <a:r>
              <a:rPr sz="3200" b="1" i="0">
                <a:solidFill>
                  <a:srgbClr val="1B2733"/>
                </a:solidFill>
                <a:latin typeface="Arial"/>
              </a:rPr>
              <a:t> is worse than no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212080" cy="3749039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060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6FB3"/>
                </a:solidFill>
                <a:latin typeface="Arial"/>
              </a:rPr>
              <a:t>Today, an analyst must…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191256"/>
            <a:ext cx="146304" cy="146304"/>
          </a:xfrm>
          <a:prstGeom prst="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09981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B2733"/>
                </a:solidFill>
                <a:latin typeface="Arial"/>
              </a:rPr>
              <a:t>Hunt for the right indicator codes across portals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739896"/>
            <a:ext cx="146304" cy="146304"/>
          </a:xfrm>
          <a:prstGeom prst="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64845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B2733"/>
                </a:solidFill>
                <a:latin typeface="Arial"/>
              </a:rPr>
              <a:t>Query several incompatible APIs and reconcile vintages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288536"/>
            <a:ext cx="146304" cy="146304"/>
          </a:xfrm>
          <a:prstGeom prst="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419709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B2733"/>
                </a:solidFill>
                <a:latin typeface="Arial"/>
              </a:rPr>
              <a:t>Notice that a key indicator only has survey-year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4837176"/>
            <a:ext cx="146304" cy="146304"/>
          </a:xfrm>
          <a:prstGeom prst="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74573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B2733"/>
                </a:solidFill>
                <a:latin typeface="Arial"/>
              </a:rPr>
              <a:t>Compute trends and gaps-to-target by hand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5385816"/>
            <a:ext cx="146304" cy="146304"/>
          </a:xfrm>
          <a:prstGeom prst="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5294376"/>
            <a:ext cx="4389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B2733"/>
                </a:solidFill>
                <a:latin typeface="Arial"/>
              </a:rPr>
              <a:t>Write it up — and try to preserve the citations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331720"/>
            <a:ext cx="4983480" cy="3749039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6060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9EDB"/>
                </a:solidFill>
                <a:latin typeface="Arial"/>
              </a:rPr>
              <a:t>…so teams reach for a 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43891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 generic LLM will happily fill the gaps with </a:t>
            </a:r>
            <a:r>
              <a:rPr sz="1500" b="1" i="0">
                <a:solidFill>
                  <a:srgbClr val="C2912F"/>
                </a:solidFill>
                <a:latin typeface="Arial"/>
              </a:rPr>
              <a:t>plausible but unsourced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numbers.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1B2733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3CEDA"/>
                </a:solidFill>
                <a:latin typeface="Arial"/>
              </a:rPr>
              <a:t>Hidden assumptions. No lineage. No caveats.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1B2733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And the most capable models cost money that an </a:t>
            </a:r>
            <a:r>
              <a:rPr sz="1500" b="1" i="0">
                <a:solidFill>
                  <a:srgbClr val="009EDB"/>
                </a:solidFill>
                <a:latin typeface="Arial"/>
              </a:rPr>
              <a:t>under-resourced country office doesn’t have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— widening the digital divide.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640080"/>
            <a:ext cx="1883664" cy="292608"/>
          </a:xfrm>
          <a:prstGeom prst="round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21792"/>
            <a:ext cx="18836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3294B"/>
                </a:solidFill>
                <a:latin typeface="Arial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Don’t put the language model </a:t>
            </a:r>
            <a:r>
              <a:rPr sz="3400" b="1" i="0">
                <a:solidFill>
                  <a:srgbClr val="009EDB"/>
                </a:solidFill>
                <a:latin typeface="Arial"/>
              </a:rPr>
              <a:t>between a question and a number.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3CEDA"/>
                </a:solidFill>
                <a:latin typeface="Arial"/>
              </a:rPr>
              <a:t>CEDAR computes every figure deterministically and cites it. The model is removed from every step where a number is produced — and a reviewer agent still checks the prose.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3383280" cy="2286000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977639"/>
            <a:ext cx="3383280" cy="109728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2976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Visible evidence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50749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3CEDA"/>
                </a:solidFill>
                <a:latin typeface="Arial"/>
              </a:rPr>
              <a:t>A 7-stage state machine — each step an inspectable artifact, not hidden chat reasoning.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977639"/>
            <a:ext cx="3383280" cy="2286000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3977639"/>
            <a:ext cx="3383280" cy="109728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42976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Grounding by 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50749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3CEDA"/>
                </a:solidFill>
                <a:latin typeface="Arial"/>
              </a:rPr>
              <a:t>Every claim links to its datapoints; a ledger preserves lineage; a caveat engine flags gaps.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977639"/>
            <a:ext cx="3383280" cy="2286000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977639"/>
            <a:ext cx="3383280" cy="109728"/>
          </a:xfrm>
          <a:prstGeom prst="rect">
            <a:avLst/>
          </a:prstGeom>
          <a:solidFill>
            <a:srgbClr val="C2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42976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Frugal by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5074920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3CEDA"/>
                </a:solidFill>
                <a:latin typeface="Arial"/>
              </a:rPr>
              <a:t>Deterministic core = $0.00. LLM optional. A live meter proves the saving.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2029967" cy="292608"/>
          </a:xfrm>
          <a:prstGeom prst="roundRect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2029967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733"/>
                </a:solidFill>
                <a:latin typeface="Arial"/>
              </a:rPr>
              <a:t>The evidence chain — visible from query to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700784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65960"/>
            <a:ext cx="1700784" cy="4572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84248"/>
            <a:ext cx="17007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328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Arial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044952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B7A"/>
                </a:solidFill>
                <a:latin typeface="Arial"/>
              </a:rPr>
              <a:t>Resolve indicator &amp;
country codes, 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9EDB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1965960"/>
            <a:ext cx="1700784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1965960"/>
            <a:ext cx="1700784" cy="457200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984248"/>
            <a:ext cx="17007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25328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Arial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8064" y="3044952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B7A"/>
                </a:solidFill>
                <a:latin typeface="Arial"/>
              </a:rPr>
              <a:t>Call authoritative APIs;
stamp provenance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78892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9EDB"/>
                </a:solidFill>
                <a:latin typeface="Arial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1965960"/>
            <a:ext cx="1700784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3984" y="1965960"/>
            <a:ext cx="1700784" cy="457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1984248"/>
            <a:ext cx="17007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5328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Arial"/>
              </a:rPr>
              <a:t>Verify · 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044952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B7A"/>
                </a:solidFill>
                <a:latin typeface="Arial"/>
              </a:rPr>
              <a:t>Coverage, recency, gaps;
confidence + caveats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278892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9EDB"/>
                </a:solidFill>
                <a:latin typeface="Arial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1965960"/>
            <a:ext cx="1700784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1965960"/>
            <a:ext cx="1700784" cy="457200"/>
          </a:xfrm>
          <a:prstGeom prst="rect">
            <a:avLst/>
          </a:prstGeom>
          <a:solidFill>
            <a:srgbClr val="C2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1984248"/>
            <a:ext cx="17007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5328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Arial"/>
              </a:rPr>
              <a:t>Analyse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044952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B7A"/>
                </a:solidFill>
                <a:latin typeface="Arial"/>
              </a:rPr>
              <a:t>Trend, CAGR, gap-to-target
— deterministic, no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415" y="278892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9EDB"/>
                </a:solidFill>
                <a:latin typeface="Arial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1965960"/>
            <a:ext cx="1700784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1965960"/>
            <a:ext cx="1700784" cy="457200"/>
          </a:xfrm>
          <a:prstGeom prst="rect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65008" y="1984248"/>
            <a:ext cx="17007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STEP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5328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Arial"/>
              </a:rPr>
              <a:t>Narrate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44952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B7A"/>
                </a:solidFill>
                <a:latin typeface="Arial"/>
              </a:rPr>
              <a:t>Claims → prose; every
sentence cited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0928" y="278892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9EDB"/>
                </a:solidFill>
                <a:latin typeface="Arial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1965960"/>
            <a:ext cx="1700784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75520" y="1965960"/>
            <a:ext cx="1700784" cy="4572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1984248"/>
            <a:ext cx="17007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STEP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253288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Arial"/>
              </a:rPr>
              <a:t>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0112" y="3044952"/>
            <a:ext cx="1371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D6B7A"/>
                </a:solidFill>
                <a:latin typeface="Arial"/>
              </a:rPr>
              <a:t>Block any number
without a datapoint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526280"/>
            <a:ext cx="10533888" cy="86868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62686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EDB"/>
                </a:solidFill>
                <a:latin typeface="Arial"/>
              </a:rPr>
              <a:t>OUTPUT   </a:t>
            </a:r>
            <a:r>
              <a:rPr sz="1500" b="1" i="0">
                <a:solidFill>
                  <a:srgbClr val="FFFFFF"/>
                </a:solidFill>
                <a:latin typeface="Arial"/>
              </a:rPr>
              <a:t>Decision-ready brief  +  Evidence ledger (CSV)  +  Provenance graph (JSON)  +  Cost report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3CEDA"/>
                </a:solidFill>
                <a:latin typeface="Arial"/>
              </a:rPr>
              <a:t>Separation of concerns makes every boundary an inspection point.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5D6B7A"/>
                </a:solidFill>
                <a:latin typeface="Arial"/>
              </a:rPr>
              <a:t>Maps cleanly onto LangGraph / CrewAI nodes; CEDAR can also be exposed as an MCP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3493008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34930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GROUNDING MADE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733"/>
                </a:solidFill>
                <a:latin typeface="Arial"/>
              </a:rPr>
              <a:t>Every claim carries the datapoints it stands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10533888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109728" cy="9601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E7D5B"/>
                </a:solidFill>
                <a:latin typeface="Arial"/>
              </a:rPr>
              <a:t>CLAIM   </a:t>
            </a:r>
            <a:r>
              <a:rPr sz="1600" b="1" i="0">
                <a:solidFill>
                  <a:srgbClr val="1B2733"/>
                </a:solidFill>
                <a:latin typeface="Arial"/>
              </a:rPr>
              <a:t>“Under-5 mortality fell from 53.1 to 39.6 per 1,000 live births (2010→2023).”  </a:t>
            </a:r>
            <a:r>
              <a:rPr sz="1400" b="1" i="0">
                <a:solidFill>
                  <a:srgbClr val="009EDB"/>
                </a:solidFill>
                <a:latin typeface="Arial"/>
              </a:rPr>
              <a:t>[1]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D6B7A"/>
                </a:solidFill>
                <a:latin typeface="Arial"/>
              </a:rPr>
              <a:t>traces to 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50292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063240"/>
            <a:ext cx="411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3063240"/>
            <a:ext cx="283464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99032" y="306324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Claim stands 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3063240"/>
            <a:ext cx="22860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306324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Indicator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3063240"/>
            <a:ext cx="301752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063240"/>
            <a:ext cx="2926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Source (lineage)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3063240"/>
            <a:ext cx="1143000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3063240"/>
            <a:ext cx="1051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Updated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0" y="3063240"/>
            <a:ext cx="749808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3063240"/>
            <a:ext cx="6583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520440"/>
            <a:ext cx="50292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520440"/>
            <a:ext cx="3931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6FB3"/>
                </a:solidFill>
                <a:latin typeface="Arial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3520440"/>
            <a:ext cx="283464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99032" y="3520440"/>
            <a:ext cx="27249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SH.DYN.MORT@2010, @2023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520440"/>
            <a:ext cx="228600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3520440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Under-5 mortality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520440"/>
            <a:ext cx="301752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3520440"/>
            <a:ext cx="29077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UN IGME (UNICEF-led) → WDI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3520440"/>
            <a:ext cx="114300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7192" y="3520440"/>
            <a:ext cx="103327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2026-04-08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0" y="3520440"/>
            <a:ext cx="749808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80192" y="352044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9EDB"/>
                </a:solidFill>
                <a:latin typeface="Arial"/>
              </a:rPr>
              <a:t>re-run 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4087368"/>
            <a:ext cx="502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087368"/>
            <a:ext cx="3931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6FB3"/>
                </a:solidFill>
                <a:latin typeface="Arial"/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25880" y="4087368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99032" y="4087368"/>
            <a:ext cx="27249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SH.DYN.MORT@2023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4087368"/>
            <a:ext cx="2286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33672" y="4087368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Under-5 mortality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4087368"/>
            <a:ext cx="3017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4087368"/>
            <a:ext cx="29077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UN IGME (UNICEF-led) → WDI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4040" y="4087368"/>
            <a:ext cx="1143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37192" y="4087368"/>
            <a:ext cx="103327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2026-04-08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07040" y="4087368"/>
            <a:ext cx="74980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80192" y="408736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9EDB"/>
                </a:solidFill>
                <a:latin typeface="Arial"/>
              </a:rPr>
              <a:t>re-run 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" y="4654296"/>
            <a:ext cx="50292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4654296"/>
            <a:ext cx="3931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6FB3"/>
                </a:solidFill>
                <a:latin typeface="Arial"/>
              </a:rPr>
              <a:t>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25880" y="4654296"/>
            <a:ext cx="283464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99032" y="4654296"/>
            <a:ext cx="27249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SH.STA.STNT.ZS@2014, @2022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60520" y="4654296"/>
            <a:ext cx="228600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33672" y="4654296"/>
            <a:ext cx="21762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Stunting (under-5)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4654296"/>
            <a:ext cx="301752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9672" y="4654296"/>
            <a:ext cx="290779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UNICEF/WHO/WB JME → WDI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64040" y="4654296"/>
            <a:ext cx="1143000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37192" y="4654296"/>
            <a:ext cx="103327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B2733"/>
                </a:solidFill>
                <a:latin typeface="Arial"/>
              </a:rPr>
              <a:t>2026-04-08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607040" y="4654296"/>
            <a:ext cx="749808" cy="566928"/>
          </a:xfrm>
          <a:prstGeom prst="rect">
            <a:avLst/>
          </a:prstGeom>
          <a:solidFill>
            <a:srgbClr val="F2F6FA"/>
          </a:solidFill>
          <a:ln w="6350">
            <a:solidFill>
              <a:srgbClr val="E2EA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80192" y="4654296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9EDB"/>
                </a:solidFill>
                <a:latin typeface="Arial"/>
              </a:rPr>
              <a:t>re-run 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E7D5B"/>
                </a:solidFill>
                <a:latin typeface="Arial"/>
              </a:rPr>
              <a:t>No fabricated numbers, by construction: </a:t>
            </a:r>
            <a:r>
              <a:rPr sz="1350" b="0" i="0">
                <a:solidFill>
                  <a:srgbClr val="1B2733"/>
                </a:solidFill>
                <a:latin typeface="Arial"/>
              </a:rPr>
              <a:t>the analyst can only reference datapoints the verifier has hashed; the reviewer blocks any uncited claim.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3346703" cy="292608"/>
          </a:xfrm>
          <a:prstGeom prst="round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3346703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3294B"/>
                </a:solidFill>
                <a:latin typeface="Arial"/>
              </a:rPr>
              <a:t>LIVE DEMO ·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733"/>
                </a:solidFill>
                <a:latin typeface="Arial"/>
              </a:rPr>
              <a:t>“Is child survival on track in Kenya?”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5394960" cy="71323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91440" cy="7132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20240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E7D5B"/>
                </a:solidFill>
                <a:latin typeface="Arial"/>
              </a:rPr>
              <a:t>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2024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733"/>
                </a:solidFill>
                <a:latin typeface="Arial"/>
              </a:rPr>
              <a:t>Under-5 mortality fell 53.1 → 39.6 per 1,000 (2010→2023, −25.4%).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61488"/>
            <a:ext cx="5394960" cy="71323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91440" cy="713232"/>
          </a:xfrm>
          <a:prstGeom prst="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761488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3504B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761488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733"/>
                </a:solidFill>
                <a:latin typeface="Arial"/>
              </a:rPr>
              <a:t>Still short of the SDG 3.2.1 target of 25 — a gap of 14.6 remains.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02736"/>
            <a:ext cx="5394960" cy="71323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602736"/>
            <a:ext cx="91440" cy="713232"/>
          </a:xfrm>
          <a:prstGeom prst="rect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602736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09EDB"/>
                </a:solidFill>
                <a:latin typeface="Arial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602736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733"/>
                </a:solidFill>
                <a:latin typeface="Arial"/>
              </a:rPr>
              <a:t>Kenya (39.6) sits well below the Sub-Saharan Africa average (73.2).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43984"/>
            <a:ext cx="5394960" cy="713232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443984"/>
            <a:ext cx="91440" cy="71323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443984"/>
            <a:ext cx="4572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E7D5B"/>
                </a:solidFill>
                <a:latin typeface="Arial"/>
              </a:rP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43984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2733"/>
                </a:solidFill>
                <a:latin typeface="Arial"/>
              </a:rPr>
              <a:t>DPT immunization 93% in 2023 — above the ≥90% benchmark.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400800" y="1783080"/>
          <a:ext cx="493776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0" y="544068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5D6B7A"/>
                </a:solidFill>
                <a:latin typeface="Arial"/>
              </a:rPr>
              <a:t>Real World Bank WDI values · last updated 2026-04-08 · each point re-runnable via the ledger.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4224528" cy="292608"/>
          </a:xfrm>
          <a:prstGeom prst="roundRect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84632"/>
            <a:ext cx="42245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ONE WORKFLOW · 36 COUNTRIES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B2733"/>
                </a:solidFill>
                <a:latin typeface="Arial"/>
              </a:rPr>
              <a:t>Same evidence chain, any country — under-5 mortality, 2023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10515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5166360"/>
            <a:ext cx="201168" cy="201168"/>
          </a:xfrm>
          <a:prstGeom prst="round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5138928"/>
            <a:ext cx="58521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2733"/>
                </a:solidFill>
                <a:latin typeface="Arial"/>
              </a:rPr>
              <a:t>≥80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48256" y="5166360"/>
            <a:ext cx="201168" cy="201168"/>
          </a:xfrm>
          <a:prstGeom prst="roundRect">
            <a:avLst/>
          </a:prstGeom>
          <a:solidFill>
            <a:srgbClr val="CE7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513892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2733"/>
                </a:solidFill>
                <a:latin typeface="Arial"/>
              </a:rPr>
              <a:t>50–80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5166360"/>
            <a:ext cx="201168" cy="201168"/>
          </a:xfrm>
          <a:prstGeom prst="roundRect">
            <a:avLst/>
          </a:prstGeom>
          <a:solidFill>
            <a:srgbClr val="C2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5138928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2733"/>
                </a:solidFill>
                <a:latin typeface="Arial"/>
              </a:rPr>
              <a:t>25–50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5166360"/>
            <a:ext cx="201168" cy="20116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5138928"/>
            <a:ext cx="248716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B2733"/>
                </a:solidFill>
                <a:latin typeface="Arial"/>
              </a:rPr>
              <a:t>&lt;25  SDG target met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669280"/>
            <a:ext cx="10533888" cy="86868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760720"/>
            <a:ext cx="100584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6FB3"/>
                </a:solidFill>
                <a:latin typeface="Arial"/>
              </a:rPr>
              <a:t>Each bar is one fully-cited brief.  </a:t>
            </a:r>
            <a:r>
              <a:rPr sz="1400" b="0" i="0">
                <a:solidFill>
                  <a:srgbClr val="1B2733"/>
                </a:solidFill>
                <a:latin typeface="Arial"/>
              </a:rPr>
              <a:t>Generating all 36 ran with 0 LLM calls and cost $0.00 — the interactive map version lets a user click any country and watch the chain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248656" cy="292608"/>
          </a:xfrm>
          <a:prstGeom prst="round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84632"/>
            <a:ext cx="524865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DRILL DOWN · WITHIN-COUNTRY EQUITY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B2733"/>
                </a:solidFill>
                <a:latin typeface="Arial"/>
              </a:rPr>
              <a:t>The national average hides who is left behind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828800"/>
          <a:ext cx="60350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223760" y="1828800"/>
            <a:ext cx="4114800" cy="3291840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05740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9EDB"/>
                </a:solidFill>
                <a:latin typeface="Arial"/>
              </a:rPr>
              <a:t>Poorest vs richest fifth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46888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Arial"/>
              </a:rPr>
              <a:t>3.3×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352044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B3504B"/>
                </a:solidFill>
                <a:latin typeface="Arial"/>
              </a:rPr>
              <a:t>55.4%</a:t>
            </a:r>
            <a:r>
              <a:rPr sz="1400" b="0" i="0">
                <a:solidFill>
                  <a:srgbClr val="C3CEDA"/>
                </a:solidFill>
                <a:latin typeface="Arial"/>
              </a:rPr>
              <a:t> vs </a:t>
            </a:r>
            <a:r>
              <a:rPr sz="1600" b="1" i="0">
                <a:solidFill>
                  <a:srgbClr val="2E7D5B"/>
                </a:solidFill>
                <a:latin typeface="Arial"/>
              </a:rPr>
              <a:t>16.8%</a:t>
            </a:r>
            <a:r>
              <a:rPr sz="1300" b="0" i="0">
                <a:solidFill>
                  <a:srgbClr val="C3CEDA"/>
                </a:solidFill>
                <a:latin typeface="Arial"/>
              </a:rPr>
              <a:t>  (38.6-pt gap)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11480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3CEDA"/>
                </a:solidFill>
                <a:latin typeface="Arial"/>
              </a:rPr>
              <a:t>The 36.8% national figure would have hidden this entirely.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440680"/>
            <a:ext cx="10533888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B6FB3"/>
                </a:solidFill>
                <a:latin typeface="Arial"/>
              </a:rPr>
              <a:t>Drill-down = the same evidence chain, one level finer</a:t>
            </a:r>
            <a:r>
              <a:rPr sz="1350" b="0" i="0">
                <a:solidFill>
                  <a:srgbClr val="1B2733"/>
                </a:solidFill>
                <a:latin typeface="Arial"/>
              </a:rPr>
              <a:t>  — discover wealth-disaggregated indicators → retrieve each quintile with provenance → verify → analyse the gap.</a:t>
            </a:r>
          </a:p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5D6B7A"/>
                </a:solidFill>
                <a:latin typeface="Arial"/>
              </a:rPr>
              <a:t>Same glass-box, deeper resolution, still $0.00.   Also live for Kenya (2.6×) and India (2.0×); extends to urban/rural, education &amp; subnational regions via UNICEF SDMX / DHS.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2615184" cy="292608"/>
          </a:xfrm>
          <a:prstGeom prst="roundRect">
            <a:avLst/>
          </a:prstGeom>
          <a:solidFill>
            <a:srgbClr val="C2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2615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3294B"/>
                </a:solidFill>
                <a:latin typeface="Arial"/>
              </a:rPr>
              <a:t>THE HONESTY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Where other tools draw a trend, CEDAR tells the truth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920240"/>
          <a:ext cx="48463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874519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9EDB"/>
                </a:solidFill>
                <a:latin typeface="Arial"/>
              </a:rPr>
              <a:t>Auto-derived confidence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423160"/>
            <a:ext cx="5212080" cy="603504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423160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Under-5 mortality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578608"/>
            <a:ext cx="86868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560320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3294B"/>
                </a:solidFill>
                <a:latin typeface="Arial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2423160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3CEDA"/>
                </a:solidFill>
                <a:latin typeface="Arial"/>
              </a:rPr>
              <a:t>coverage 100% · latest 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136391"/>
            <a:ext cx="5212080" cy="603504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136391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Infant mortality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291839"/>
            <a:ext cx="86868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273551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3294B"/>
                </a:solidFill>
                <a:latin typeface="Arial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3136391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3CEDA"/>
                </a:solidFill>
                <a:latin typeface="Arial"/>
              </a:rPr>
              <a:t>coverage 100% · latest 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49624"/>
            <a:ext cx="5212080" cy="603504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49624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DPT immunization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005072"/>
            <a:ext cx="86868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3986784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3294B"/>
                </a:solidFill>
                <a:latin typeface="Arial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849624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3CEDA"/>
                </a:solidFill>
                <a:latin typeface="Arial"/>
              </a:rPr>
              <a:t>coverage 100% · latest 2023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62856"/>
            <a:ext cx="5212080" cy="603504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562856"/>
            <a:ext cx="27432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Arial"/>
              </a:rPr>
              <a:t>Stunting (under-5)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4718304"/>
            <a:ext cx="868680" cy="292608"/>
          </a:xfrm>
          <a:prstGeom prst="roundRect">
            <a:avLst/>
          </a:prstGeom>
          <a:solidFill>
            <a:srgbClr val="C29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4700016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3294B"/>
                </a:solidFill>
                <a:latin typeface="Arial"/>
              </a:rPr>
              <a:t>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4562856"/>
            <a:ext cx="1280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3CEDA"/>
                </a:solidFill>
                <a:latin typeface="Arial"/>
              </a:rPr>
              <a:t>coverage 30% · survey-only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532120"/>
            <a:ext cx="10515600" cy="731520"/>
          </a:xfrm>
          <a:prstGeom prst="roundRect">
            <a:avLst/>
          </a:prstGeom>
          <a:solidFill>
            <a:srgbClr val="22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605272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C2912F"/>
                </a:solidFill>
                <a:latin typeface="Arial"/>
              </a:rPr>
              <a:t>⚠ Caveat engine:  </a:t>
            </a:r>
            <a:r>
              <a:rPr sz="1350" b="0" i="1">
                <a:solidFill>
                  <a:srgbClr val="FFFFFF"/>
                </a:solidFill>
                <a:latin typeface="Arial"/>
              </a:rPr>
              <a:t>“Sparse series — only 3 of 10 years carry a value (survey-dependent). Treat year-on-year movement with caution.”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3200400" cy="292608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3200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COST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B2733"/>
                </a:solidFill>
                <a:latin typeface="Arial"/>
              </a:rPr>
              <a:t>The frugal agent: a fully-cited brief for </a:t>
            </a:r>
            <a:r>
              <a:rPr sz="2800" b="1" i="0">
                <a:solidFill>
                  <a:srgbClr val="2E7D5B"/>
                </a:solidFill>
                <a:latin typeface="Arial"/>
              </a:rPr>
              <a:t>$0.00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468880" cy="17373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2E7D5B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D6B7A"/>
                </a:solidFill>
                <a:latin typeface="Arial"/>
              </a:rPr>
              <a:t>LLM calls in the
deterministic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68880" cy="17373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2E7D5B"/>
                </a:solidFill>
                <a:latin typeface="Arial"/>
              </a:rPr>
              <a:t>$0.00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D6B7A"/>
                </a:solidFill>
                <a:latin typeface="Arial"/>
              </a:rPr>
              <a:t>cost per brief
(this run)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17373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09EDB"/>
                </a:solidFill>
                <a:latin typeface="Arial"/>
              </a:rPr>
              <a:t>~2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D6B7A"/>
                </a:solidFill>
                <a:latin typeface="Arial"/>
              </a:rPr>
              <a:t>compute to
generate a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28800"/>
            <a:ext cx="2468880" cy="17373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  <a:effectLst>
            <a:outerShdw blurRad="90000" dist="30000" dir="5400000" rotWithShape="0">
              <a:srgbClr val="0B1F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057400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B6FB3"/>
                </a:solidFill>
                <a:latin typeface="Arial"/>
              </a:rPr>
              <a:t>~100%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92608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D6B7A"/>
                </a:solidFill>
                <a:latin typeface="Arial"/>
              </a:rPr>
              <a:t>cost saving vs a
naive big-model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2733"/>
                </a:solidFill>
                <a:latin typeface="Arial"/>
              </a:rPr>
              <a:t>Cost per brief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389120"/>
            <a:ext cx="10058400" cy="548640"/>
          </a:xfrm>
          <a:prstGeom prst="roundRect">
            <a:avLst/>
          </a:prstGeom>
          <a:solidFill>
            <a:srgbClr val="B35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Naive “stuff everything into one big model”  ≈  $0.097 / brief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74920"/>
            <a:ext cx="1005840" cy="548640"/>
          </a:xfrm>
          <a:prstGeom prst="round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507492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B2733"/>
                </a:solidFill>
                <a:latin typeface="Arial"/>
              </a:rPr>
              <a:t>CEDAR  ≈  $0.00 / brief  (deterministic core)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897880"/>
            <a:ext cx="10533888" cy="713232"/>
          </a:xfrm>
          <a:prstGeom prst="round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971032"/>
            <a:ext cx="10058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9EDB"/>
                </a:solidFill>
                <a:latin typeface="Arial"/>
              </a:rPr>
              <a:t>A country office with no model budget can still produce a fully-cited brief. </a:t>
            </a:r>
            <a:r>
              <a:rPr sz="1400" b="0" i="0">
                <a:solidFill>
                  <a:srgbClr val="FFFFFF"/>
                </a:solidFill>
                <a:latin typeface="Arial"/>
              </a:rPr>
              <a:t>That is the answer to the digital-divide concern.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48640"/>
            <a:ext cx="1883664" cy="292608"/>
          </a:xfrm>
          <a:prstGeom prst="roundRect">
            <a:avLst/>
          </a:prstGeom>
          <a:solidFill>
            <a:srgbClr val="0B6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8836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WHY IT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B2733"/>
                </a:solidFill>
                <a:latin typeface="Arial"/>
              </a:rPr>
              <a:t>Built around the three things the challenge rewards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3200400" cy="5029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The challenge asks for…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0" y="1874519"/>
            <a:ext cx="3383280" cy="5029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874519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Most entries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874519"/>
            <a:ext cx="3950208" cy="5029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874519"/>
            <a:ext cx="37673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9EDB"/>
                </a:solidFill>
                <a:latin typeface="Arial"/>
              </a:rPr>
              <a:t>CEDAR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77439"/>
            <a:ext cx="3200400" cy="1024128"/>
          </a:xfrm>
          <a:prstGeom prst="rect">
            <a:avLst/>
          </a:prstGeom>
          <a:solidFill>
            <a:srgbClr val="F2F6FA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77439"/>
            <a:ext cx="29718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733"/>
                </a:solidFill>
                <a:latin typeface="Arial"/>
              </a:rPr>
              <a:t>Evidence chain stays visible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377439"/>
            <a:ext cx="3383280" cy="1024128"/>
          </a:xfrm>
          <a:prstGeom prst="rect">
            <a:avLst/>
          </a:prstGeom>
          <a:solidFill>
            <a:srgbClr val="F2F6FA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377439"/>
            <a:ext cx="31546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D6B7A"/>
                </a:solidFill>
                <a:latin typeface="Arial"/>
              </a:rPr>
              <a:t>Hide reasoning in a chat bubble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377439"/>
            <a:ext cx="3950208" cy="1024128"/>
          </a:xfrm>
          <a:prstGeom prst="rect">
            <a:avLst/>
          </a:prstGeom>
          <a:solidFill>
            <a:srgbClr val="ECF7FC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377439"/>
            <a:ext cx="372160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6FB3"/>
                </a:solidFill>
                <a:latin typeface="Arial"/>
              </a:rPr>
              <a:t>7-stage state machine; each step an inspectable artifact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401568"/>
            <a:ext cx="32004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01568"/>
            <a:ext cx="29718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733"/>
                </a:solidFill>
                <a:latin typeface="Arial"/>
              </a:rPr>
              <a:t>Grounding made visible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3401568"/>
            <a:ext cx="33832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3401568"/>
            <a:ext cx="31546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D6B7A"/>
                </a:solidFill>
                <a:latin typeface="Arial"/>
              </a:rPr>
              <a:t>A footnote or link dump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401568"/>
            <a:ext cx="3950208" cy="1024128"/>
          </a:xfrm>
          <a:prstGeom prst="rect">
            <a:avLst/>
          </a:prstGeom>
          <a:solidFill>
            <a:srgbClr val="ECF7FC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3401568"/>
            <a:ext cx="372160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6FB3"/>
                </a:solidFill>
                <a:latin typeface="Arial"/>
              </a:rPr>
              <a:t>Claim→datapoint→query ledger; lineage; caveat engine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425696"/>
            <a:ext cx="3200400" cy="1024128"/>
          </a:xfrm>
          <a:prstGeom prst="rect">
            <a:avLst/>
          </a:prstGeom>
          <a:solidFill>
            <a:srgbClr val="F2F6FA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25696"/>
            <a:ext cx="297180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1B2733"/>
                </a:solidFill>
                <a:latin typeface="Arial"/>
              </a:rPr>
              <a:t>Cost &amp; accessibility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4425696"/>
            <a:ext cx="3383280" cy="1024128"/>
          </a:xfrm>
          <a:prstGeom prst="rect">
            <a:avLst/>
          </a:prstGeom>
          <a:solidFill>
            <a:srgbClr val="F2F6FA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4425696"/>
            <a:ext cx="315468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D6B7A"/>
                </a:solidFill>
                <a:latin typeface="Arial"/>
              </a:rPr>
              <a:t>Assume a frontier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4425696"/>
            <a:ext cx="3950208" cy="1024128"/>
          </a:xfrm>
          <a:prstGeom prst="rect">
            <a:avLst/>
          </a:prstGeom>
          <a:solidFill>
            <a:srgbClr val="ECF7FC"/>
          </a:solidFill>
          <a:ln w="635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4425696"/>
            <a:ext cx="3721608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6FB3"/>
                </a:solidFill>
                <a:latin typeface="Arial"/>
              </a:rPr>
              <a:t>Deterministic core = $0; LLM optional; live cost meter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5D6B7A"/>
                </a:solidFill>
                <a:latin typeface="Arial"/>
              </a:rPr>
              <a:t>Plus: open-source, reproducible, and grounded in authoritative UNICEF / World Bank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786384"/>
            <a:ext cx="566928" cy="566928"/>
          </a:xfrm>
          <a:prstGeom prst="roundRect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" y="89154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" y="1165860"/>
            <a:ext cx="82296" cy="82296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4148" y="1165860"/>
            <a:ext cx="82296" cy="82296"/>
          </a:xfrm>
          <a:prstGeom prst="ellipse">
            <a:avLst/>
          </a:prstGeom>
          <a:solidFill>
            <a:srgbClr val="009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81328" y="850392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CEDAR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Arial"/>
              </a:rPr>
              <a:t>Grounded.</a:t>
            </a:r>
          </a:p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009EDB"/>
                </a:solidFill>
                <a:latin typeface="Arial"/>
              </a:rPr>
              <a:t>Traceable.</a:t>
            </a:r>
          </a:p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2E7D5B"/>
                </a:solidFill>
                <a:latin typeface="Arial"/>
              </a:rPr>
              <a:t>Affordable.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00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C3CEDA"/>
                </a:solidFill>
                <a:latin typeface="Arial"/>
              </a:rPr>
              <a:t>The point isn’t that an AI wrote a brief — it’s that you can check every number it used, and anyone can afford to run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806440"/>
            <a:ext cx="10424160" cy="731520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897880"/>
            <a:ext cx="10058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9EDB"/>
                </a:solidFill>
                <a:latin typeface="Arial"/>
              </a:rPr>
              <a:t>Try it:  </a:t>
            </a:r>
            <a:r>
              <a:rPr sz="1300" b="0" i="0">
                <a:solidFill>
                  <a:srgbClr val="FFFFFF"/>
                </a:solidFill>
                <a:latin typeface="Consolas"/>
              </a:rPr>
              <a:t>python3 cedar.py --country KEN --theme child-survival --offline</a:t>
            </a:r>
            <a:r>
              <a:rPr sz="1300" b="0" i="0">
                <a:solidFill>
                  <a:srgbClr val="C3CEDA"/>
                </a:solidFill>
                <a:latin typeface="Arial"/>
              </a:rPr>
              <a:t>   →  cited brief + ledger + cost report, $0.00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